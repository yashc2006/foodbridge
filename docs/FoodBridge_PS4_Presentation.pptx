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b03bb58-ce23-789c-3e8b-a3b9a139e4aa}">
          <p14:sldIdLst>
            <p14:sldId id="256"/>
            <p14:sldId id="257"/>
          </p14:sldIdLst>
        </p14:section>
        <p14:section name="Solution" id="{514ae126-a5e5-129f-fffc-9d6e712c070c}">
          <p14:sldIdLst>
            <p14:sldId id="258"/>
            <p14:sldId id="259"/>
            <p14:sldId id="260"/>
          </p14:sldIdLst>
        </p14:section>
        <p14:section name="Design" id="{60fa458a-707b-fd2c-43b8-bb576821c5ef}">
          <p14:sldIdLst>
            <p14:sldId id="261"/>
            <p14:sldId id="262"/>
            <p14:sldId id="263"/>
          </p14:sldIdLst>
        </p14:section>
        <p14:section name="Demo" id="{b2078b56-fe67-5d7b-07c2-d31e50d41ed4}">
          <p14:sldIdLst>
            <p14:sldId id="264"/>
            <p14:sldId id="265"/>
            <p14:sldId id="266"/>
          </p14:sldIdLst>
        </p14:section>
        <p14:section name="Wrap-up" id="{df70eb09-6528-fd25-a976-20db86c5a4e7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42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D2420"/>
                </a:solidFill>
                <a:latin typeface="+mn-lt"/>
              </a:rPr>
              <a:t>Score weight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1F5F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4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Fairness</c:v>
                  </c:pt>
                  <c:pt idx="1">
                    <c:v>Food preference</c:v>
                  </c:pt>
                  <c:pt idx="2">
                    <c:v>Quantity fit</c:v>
                  </c:pt>
                  <c:pt idx="3">
                    <c:v>Expiry urgency</c:v>
                  </c:pt>
                  <c:pt idx="4">
                    <c:v>Distance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20</c:v>
                </c:pt>
                <c:pt idx="3">
                  <c:v>25</c:v>
                </c:pt>
                <c:pt idx="4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D24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6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problem statement PS-4: coordinating collection and distribution of usable surplus food.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gaps: discovery, speed, and accountability.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B_DARK">
    <p:bg>
      <p:bgPr>
        <a:solidFill>
          <a:srgbClr val="1F5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FoodBridge · PS-4 · Team CodeBlooded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"/>
          <p:cNvSpPr txBox="1"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73B"/>
                </a:solidFill>
              </a:rPr>
              <a:t>PS-4 · LOCAL SERVICE MANAGEMENT · 5TH SEMESTER</a:t>
            </a:r>
            <a:endParaRPr lang="en-US" sz="1200" dirty="0"/>
          </a:p>
        </p:txBody>
      </p:sp>
      <p:sp>
        <p:nvSpPr>
          <p:cNvPr id="3" name="t2"/>
          <p:cNvSpPr txBox="1"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FoodBridge</a:t>
            </a:r>
            <a:endParaRPr lang="en-US" sz="5400" dirty="0"/>
          </a:p>
        </p:txBody>
      </p:sp>
      <p:sp>
        <p:nvSpPr>
          <p:cNvPr id="4" name="t3"/>
          <p:cNvSpPr txBox="1"/>
          <p:nvPr/>
        </p:nvSpPr>
        <p:spPr>
          <a:xfrm>
            <a:off x="548640" y="1828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8E0"/>
                </a:solidFill>
              </a:rPr>
              <a:t>A smart platform to coordinate the collection and distribution of surplus food</a:t>
            </a:r>
            <a:endParaRPr lang="en-US" sz="1800" dirty="0"/>
          </a:p>
        </p:txBody>
      </p:sp>
      <p:sp>
        <p:nvSpPr>
          <p:cNvPr id="5" name="teamcard"/>
          <p:cNvSpPr/>
          <p:nvPr/>
        </p:nvSpPr>
        <p:spPr>
          <a:xfrm>
            <a:off x="548640" y="2880360"/>
            <a:ext cx="5120640" cy="1691640"/>
          </a:xfrm>
          <a:prstGeom prst="roundRect">
            <a:avLst>
              <a:gd name="adj" fmla="val 6486"/>
            </a:avLst>
          </a:prstGeom>
          <a:solidFill>
            <a:srgbClr val="164530"/>
          </a:solidFill>
          <a:ln w="9525">
            <a:solidFill>
              <a:srgbClr val="2C7350"/>
            </a:solidFill>
            <a:prstDash val="solid"/>
          </a:ln>
        </p:spPr>
      </p:sp>
      <p:sp>
        <p:nvSpPr>
          <p:cNvPr id="6" name="t4"/>
          <p:cNvSpPr txBox="1"/>
          <p:nvPr/>
        </p:nvSpPr>
        <p:spPr>
          <a:xfrm>
            <a:off x="77724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73B"/>
                </a:solidFill>
              </a:rPr>
              <a:t>Team CodeBlooded (Team 5)</a:t>
            </a:r>
            <a:endParaRPr lang="en-US" sz="1500" dirty="0"/>
          </a:p>
        </p:txBody>
      </p:sp>
      <p:sp>
        <p:nvSpPr>
          <p:cNvPr id="7" name="t5"/>
          <p:cNvSpPr txBox="1"/>
          <p:nvPr/>
        </p:nvSpPr>
        <p:spPr>
          <a:xfrm>
            <a:off x="777240" y="3383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Yash Chopade  ·  BTE24FSD100019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Priyambada Chouhan  ·  BTE24FSD000011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Mohammad Ayan Manihar</a:t>
            </a:r>
            <a:endParaRPr lang="en-US" sz="1400" dirty="0"/>
          </a:p>
        </p:txBody>
      </p:sp>
      <p:sp>
        <p:nvSpPr>
          <p:cNvPr id="8" name="t6"/>
          <p:cNvSpPr txBox="1"/>
          <p:nvPr/>
        </p:nvSpPr>
        <p:spPr>
          <a:xfrm>
            <a:off x="777240" y="4206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C6"/>
                </a:solidFill>
              </a:rPr>
              <a:t>Mentor: Verman Kumar, IIT (BHU) Varanasi</a:t>
            </a:r>
            <a:endParaRPr lang="en-US" sz="1200" dirty="0"/>
          </a:p>
        </p:txBody>
      </p:sp>
      <p:sp>
        <p:nvSpPr>
          <p:cNvPr id="9" name="bigcirc"/>
          <p:cNvSpPr/>
          <p:nvPr/>
        </p:nvSpPr>
        <p:spPr>
          <a:xfrm>
            <a:off x="6400800" y="2468880"/>
            <a:ext cx="2194560" cy="2194560"/>
          </a:xfrm>
          <a:prstGeom prst="ellipse">
            <a:avLst/>
          </a:prstGeom>
          <a:solidFill>
            <a:srgbClr val="F4A73B"/>
          </a:solidFill>
          <a:ln w="12700">
            <a:solidFill>
              <a:srgbClr val="F4A73B"/>
            </a:solidFill>
            <a:prstDash val="solid"/>
          </a:ln>
        </p:spPr>
      </p:sp>
      <p:sp>
        <p:nvSpPr>
          <p:cNvPr id="10" name="t7"/>
          <p:cNvSpPr txBox="1"/>
          <p:nvPr/>
        </p:nvSpPr>
        <p:spPr>
          <a:xfrm>
            <a:off x="6400800" y="246888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chemeClr val="tx1"/>
                </a:solidFill>
              </a:rPr>
              <a:t>🍱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8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Restaurants, hostels, events and households often have good food left over — while people nearby go hungry.</a:t>
            </a:r>
            <a:endParaRPr lang="en-US" sz="1600" dirty="0"/>
          </a:p>
        </p:txBody>
      </p:sp>
      <p:sp>
        <p:nvSpPr>
          <p:cNvPr id="4" name="card9"/>
          <p:cNvSpPr/>
          <p:nvPr/>
        </p:nvSpPr>
        <p:spPr>
          <a:xfrm>
            <a:off x="457200" y="17830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irc10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FBE6E1"/>
          </a:solidFill>
          <a:ln w="12700">
            <a:solidFill>
              <a:srgbClr val="FBE6E1"/>
            </a:solidFill>
            <a:prstDash val="solid"/>
          </a:ln>
        </p:spPr>
      </p:sp>
      <p:sp>
        <p:nvSpPr>
          <p:cNvPr id="6" name="ico11"/>
          <p:cNvSpPr txBox="1"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📵</a:t>
            </a:r>
            <a:endParaRPr lang="en-US" sz="2000" dirty="0"/>
          </a:p>
        </p:txBody>
      </p:sp>
      <p:sp>
        <p:nvSpPr>
          <p:cNvPr id="7" name="t12"/>
          <p:cNvSpPr txBox="1"/>
          <p:nvPr/>
        </p:nvSpPr>
        <p:spPr>
          <a:xfrm>
            <a:off x="73152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central channel</a:t>
            </a:r>
            <a:endParaRPr lang="en-US" sz="1600" dirty="0"/>
          </a:p>
        </p:txBody>
      </p:sp>
      <p:sp>
        <p:nvSpPr>
          <p:cNvPr id="8" name="t13"/>
          <p:cNvSpPr txBox="1"/>
          <p:nvPr/>
        </p:nvSpPr>
        <p:spPr>
          <a:xfrm>
            <a:off x="73152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Donors don’t know who needs food; NGOs don’t know who has it. It depends on phone calls and luck.</a:t>
            </a:r>
            <a:endParaRPr lang="en-US" sz="1300" dirty="0"/>
          </a:p>
        </p:txBody>
      </p:sp>
      <p:sp>
        <p:nvSpPr>
          <p:cNvPr id="9" name="card14"/>
          <p:cNvSpPr/>
          <p:nvPr/>
        </p:nvSpPr>
        <p:spPr>
          <a:xfrm>
            <a:off x="3246120" y="17830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irc15"/>
          <p:cNvSpPr/>
          <p:nvPr/>
        </p:nvSpPr>
        <p:spPr>
          <a:xfrm>
            <a:off x="3520440" y="2011680"/>
            <a:ext cx="640080" cy="640080"/>
          </a:xfrm>
          <a:prstGeom prst="ellipse">
            <a:avLst/>
          </a:prstGeom>
          <a:solidFill>
            <a:srgbClr val="FBE6E1"/>
          </a:solidFill>
          <a:ln w="12700">
            <a:solidFill>
              <a:srgbClr val="FBE6E1"/>
            </a:solidFill>
            <a:prstDash val="solid"/>
          </a:ln>
        </p:spPr>
      </p:sp>
      <p:sp>
        <p:nvSpPr>
          <p:cNvPr id="11" name="ico16"/>
          <p:cNvSpPr txBox="1"/>
          <p:nvPr/>
        </p:nvSpPr>
        <p:spPr>
          <a:xfrm>
            <a:off x="35204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12" name="t17"/>
          <p:cNvSpPr txBox="1"/>
          <p:nvPr/>
        </p:nvSpPr>
        <p:spPr>
          <a:xfrm>
            <a:off x="352044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is time-critical</a:t>
            </a:r>
            <a:endParaRPr lang="en-US" sz="1600" dirty="0"/>
          </a:p>
        </p:txBody>
      </p:sp>
      <p:sp>
        <p:nvSpPr>
          <p:cNvPr id="13" name="t18"/>
          <p:cNvSpPr txBox="1"/>
          <p:nvPr/>
        </p:nvSpPr>
        <p:spPr>
          <a:xfrm>
            <a:off x="352044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Cooked food is safe only for a few hours. Slow coordination means it gets thrown away.</a:t>
            </a:r>
            <a:endParaRPr lang="en-US" sz="1300" dirty="0"/>
          </a:p>
        </p:txBody>
      </p:sp>
      <p:sp>
        <p:nvSpPr>
          <p:cNvPr id="14" name="card19"/>
          <p:cNvSpPr/>
          <p:nvPr/>
        </p:nvSpPr>
        <p:spPr>
          <a:xfrm>
            <a:off x="6035040" y="17830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circ20"/>
          <p:cNvSpPr/>
          <p:nvPr/>
        </p:nvSpPr>
        <p:spPr>
          <a:xfrm>
            <a:off x="6309360" y="2011680"/>
            <a:ext cx="640080" cy="640080"/>
          </a:xfrm>
          <a:prstGeom prst="ellipse">
            <a:avLst/>
          </a:prstGeom>
          <a:solidFill>
            <a:srgbClr val="FBE6E1"/>
          </a:solidFill>
          <a:ln w="12700">
            <a:solidFill>
              <a:srgbClr val="FBE6E1"/>
            </a:solidFill>
            <a:prstDash val="solid"/>
          </a:ln>
        </p:spPr>
      </p:sp>
      <p:sp>
        <p:nvSpPr>
          <p:cNvPr id="16" name="ico21"/>
          <p:cNvSpPr txBox="1"/>
          <p:nvPr/>
        </p:nvSpPr>
        <p:spPr>
          <a:xfrm>
            <a:off x="63093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7" name="t22"/>
          <p:cNvSpPr txBox="1"/>
          <p:nvPr/>
        </p:nvSpPr>
        <p:spPr>
          <a:xfrm>
            <a:off x="630936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tracking or trust</a:t>
            </a:r>
            <a:endParaRPr lang="en-US" sz="1600" dirty="0"/>
          </a:p>
        </p:txBody>
      </p:sp>
      <p:sp>
        <p:nvSpPr>
          <p:cNvPr id="18" name="t23"/>
          <p:cNvSpPr txBox="1"/>
          <p:nvPr/>
        </p:nvSpPr>
        <p:spPr>
          <a:xfrm>
            <a:off x="6309360" y="3200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Nobody knows if food was picked up, by whom, or whether it reached people.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FoodBridge</a:t>
            </a:r>
            <a:endParaRPr lang="en-US" sz="2800" dirty="0"/>
          </a:p>
        </p:txBody>
      </p:sp>
      <p:sp>
        <p:nvSpPr>
          <p:cNvPr id="3" name="t24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 full-stack web platform that matches surplus food to the right receiver nearby, alerts them instantly and tracks it until it is served.</a:t>
            </a:r>
            <a:endParaRPr lang="en-US" sz="1500" dirty="0"/>
          </a:p>
        </p:txBody>
      </p:sp>
      <p:sp>
        <p:nvSpPr>
          <p:cNvPr id="4" name="card25"/>
          <p:cNvSpPr/>
          <p:nvPr/>
        </p:nvSpPr>
        <p:spPr>
          <a:xfrm>
            <a:off x="457200" y="17373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6F0E9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circ26"/>
          <p:cNvSpPr/>
          <p:nvPr/>
        </p:nvSpPr>
        <p:spPr>
          <a:xfrm>
            <a:off x="731520" y="19659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ico27"/>
          <p:cNvSpPr txBox="1"/>
          <p:nvPr/>
        </p:nvSpPr>
        <p:spPr>
          <a:xfrm>
            <a:off x="731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🍱</a:t>
            </a:r>
            <a:endParaRPr lang="en-US" sz="2200" dirty="0"/>
          </a:p>
        </p:txBody>
      </p:sp>
      <p:sp>
        <p:nvSpPr>
          <p:cNvPr id="7" name="t28"/>
          <p:cNvSpPr txBox="1"/>
          <p:nvPr/>
        </p:nvSpPr>
        <p:spPr>
          <a:xfrm>
            <a:off x="155448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</a:t>
            </a:r>
            <a:endParaRPr lang="en-US" sz="2000" dirty="0"/>
          </a:p>
        </p:txBody>
      </p:sp>
      <p:sp>
        <p:nvSpPr>
          <p:cNvPr id="8" name="t29"/>
          <p:cNvSpPr txBox="1"/>
          <p:nvPr/>
        </p:nvSpPr>
        <p:spPr>
          <a:xfrm>
            <a:off x="73152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Restaurants, hostels, events, households</a:t>
            </a:r>
            <a:endParaRPr lang="en-US" sz="1200" dirty="0"/>
          </a:p>
        </p:txBody>
      </p:sp>
      <p:sp>
        <p:nvSpPr>
          <p:cNvPr id="9" name="t30"/>
          <p:cNvSpPr txBox="1"/>
          <p:nvPr/>
        </p:nvSpPr>
        <p:spPr>
          <a:xfrm>
            <a:off x="731520" y="3429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food with photo, quantity, location &amp; safe-until time</a:t>
            </a:r>
            <a:endParaRPr lang="en-US" sz="1400" dirty="0"/>
          </a:p>
        </p:txBody>
      </p:sp>
      <p:sp>
        <p:nvSpPr>
          <p:cNvPr id="10" name="card31"/>
          <p:cNvSpPr/>
          <p:nvPr/>
        </p:nvSpPr>
        <p:spPr>
          <a:xfrm>
            <a:off x="3246120" y="17373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DF0DC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circ32"/>
          <p:cNvSpPr/>
          <p:nvPr/>
        </p:nvSpPr>
        <p:spPr>
          <a:xfrm>
            <a:off x="3520440" y="19659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ico33"/>
          <p:cNvSpPr txBox="1"/>
          <p:nvPr/>
        </p:nvSpPr>
        <p:spPr>
          <a:xfrm>
            <a:off x="352044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🤲</a:t>
            </a:r>
            <a:endParaRPr lang="en-US" sz="2200" dirty="0"/>
          </a:p>
        </p:txBody>
      </p:sp>
      <p:sp>
        <p:nvSpPr>
          <p:cNvPr id="13" name="t34"/>
          <p:cNvSpPr txBox="1"/>
          <p:nvPr/>
        </p:nvSpPr>
        <p:spPr>
          <a:xfrm>
            <a:off x="434340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Receiver</a:t>
            </a:r>
            <a:endParaRPr lang="en-US" sz="2000" dirty="0"/>
          </a:p>
        </p:txBody>
      </p:sp>
      <p:sp>
        <p:nvSpPr>
          <p:cNvPr id="14" name="t35"/>
          <p:cNvSpPr txBox="1"/>
          <p:nvPr/>
        </p:nvSpPr>
        <p:spPr>
          <a:xfrm>
            <a:off x="352044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NGOs, shelters, community kitchens, volunteers</a:t>
            </a:r>
            <a:endParaRPr lang="en-US" sz="1200" dirty="0"/>
          </a:p>
        </p:txBody>
      </p:sp>
      <p:sp>
        <p:nvSpPr>
          <p:cNvPr id="15" name="t36"/>
          <p:cNvSpPr txBox="1"/>
          <p:nvPr/>
        </p:nvSpPr>
        <p:spPr>
          <a:xfrm>
            <a:off x="3520440" y="3429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 ranked matches on a map, claim, pick up, distribute</a:t>
            </a:r>
            <a:endParaRPr lang="en-US" sz="1400" dirty="0"/>
          </a:p>
        </p:txBody>
      </p:sp>
      <p:sp>
        <p:nvSpPr>
          <p:cNvPr id="16" name="card37"/>
          <p:cNvSpPr/>
          <p:nvPr/>
        </p:nvSpPr>
        <p:spPr>
          <a:xfrm>
            <a:off x="6035040" y="173736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E6EEFB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circ38"/>
          <p:cNvSpPr/>
          <p:nvPr/>
        </p:nvSpPr>
        <p:spPr>
          <a:xfrm>
            <a:off x="6309360" y="19659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ico39"/>
          <p:cNvSpPr txBox="1"/>
          <p:nvPr/>
        </p:nvSpPr>
        <p:spPr>
          <a:xfrm>
            <a:off x="63093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9" name="t40"/>
          <p:cNvSpPr txBox="1"/>
          <p:nvPr/>
        </p:nvSpPr>
        <p:spPr>
          <a:xfrm>
            <a:off x="713232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2000" dirty="0"/>
          </a:p>
        </p:txBody>
      </p:sp>
      <p:sp>
        <p:nvSpPr>
          <p:cNvPr id="20" name="t41"/>
          <p:cNvSpPr txBox="1"/>
          <p:nvPr/>
        </p:nvSpPr>
        <p:spPr>
          <a:xfrm>
            <a:off x="630936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Platform operator</a:t>
            </a:r>
            <a:endParaRPr lang="en-US" sz="1200" dirty="0"/>
          </a:p>
        </p:txBody>
      </p:sp>
      <p:sp>
        <p:nvSpPr>
          <p:cNvPr id="21" name="t42"/>
          <p:cNvSpPr txBox="1"/>
          <p:nvPr/>
        </p:nvSpPr>
        <p:spPr>
          <a:xfrm>
            <a:off x="6309360" y="3429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 all users, donations, statistics and live map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card43"/>
          <p:cNvSpPr/>
          <p:nvPr/>
        </p:nvSpPr>
        <p:spPr>
          <a:xfrm>
            <a:off x="457200" y="1188720"/>
            <a:ext cx="1874520" cy="32004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irc44"/>
          <p:cNvSpPr/>
          <p:nvPr/>
        </p:nvSpPr>
        <p:spPr>
          <a:xfrm>
            <a:off x="1005840" y="1417320"/>
            <a:ext cx="777240" cy="777240"/>
          </a:xfrm>
          <a:prstGeom prst="ellipse">
            <a:avLst/>
          </a:prstGeom>
          <a:solidFill>
            <a:srgbClr val="E6F0E9"/>
          </a:solidFill>
          <a:ln w="12700">
            <a:solidFill>
              <a:srgbClr val="E6F0E9"/>
            </a:solidFill>
            <a:prstDash val="solid"/>
          </a:ln>
        </p:spPr>
      </p:sp>
      <p:sp>
        <p:nvSpPr>
          <p:cNvPr id="5" name="ico45"/>
          <p:cNvSpPr txBox="1"/>
          <p:nvPr/>
        </p:nvSpPr>
        <p:spPr>
          <a:xfrm>
            <a:off x="100584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6" name="t46"/>
          <p:cNvSpPr txBox="1"/>
          <p:nvPr/>
        </p:nvSpPr>
        <p:spPr>
          <a:xfrm>
            <a:off x="640080" y="2377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Post</a:t>
            </a:r>
            <a:endParaRPr lang="en-US" sz="1800" dirty="0"/>
          </a:p>
        </p:txBody>
      </p:sp>
      <p:sp>
        <p:nvSpPr>
          <p:cNvPr id="7" name="t47"/>
          <p:cNvSpPr txBox="1"/>
          <p:nvPr/>
        </p:nvSpPr>
        <p:spPr>
          <a:xfrm>
            <a:off x="640080" y="283464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Donor adds food details, photo and pickup point. AI suggests category &amp; safe shelf life.</a:t>
            </a:r>
            <a:endParaRPr lang="en-US" sz="1300" dirty="0"/>
          </a:p>
        </p:txBody>
      </p:sp>
      <p:sp>
        <p:nvSpPr>
          <p:cNvPr id="8" name="t48"/>
          <p:cNvSpPr txBox="1"/>
          <p:nvPr/>
        </p:nvSpPr>
        <p:spPr>
          <a:xfrm>
            <a:off x="2322576" y="18288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card49"/>
          <p:cNvSpPr/>
          <p:nvPr/>
        </p:nvSpPr>
        <p:spPr>
          <a:xfrm>
            <a:off x="2560320" y="1188720"/>
            <a:ext cx="1874520" cy="32004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irc50"/>
          <p:cNvSpPr/>
          <p:nvPr/>
        </p:nvSpPr>
        <p:spPr>
          <a:xfrm>
            <a:off x="3108960" y="1417320"/>
            <a:ext cx="777240" cy="777240"/>
          </a:xfrm>
          <a:prstGeom prst="ellipse">
            <a:avLst/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11" name="ico51"/>
          <p:cNvSpPr txBox="1"/>
          <p:nvPr/>
        </p:nvSpPr>
        <p:spPr>
          <a:xfrm>
            <a:off x="310896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2" name="t52"/>
          <p:cNvSpPr txBox="1"/>
          <p:nvPr/>
        </p:nvSpPr>
        <p:spPr>
          <a:xfrm>
            <a:off x="2743200" y="2377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Match</a:t>
            </a:r>
            <a:endParaRPr lang="en-US" sz="1800" dirty="0"/>
          </a:p>
        </p:txBody>
      </p:sp>
      <p:sp>
        <p:nvSpPr>
          <p:cNvPr id="13" name="t53"/>
          <p:cNvSpPr txBox="1"/>
          <p:nvPr/>
        </p:nvSpPr>
        <p:spPr>
          <a:xfrm>
            <a:off x="2743200" y="283464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Engine scores every receiver on distance, urgency, quantity, preference &amp; fairness.</a:t>
            </a:r>
            <a:endParaRPr lang="en-US" sz="1300" dirty="0"/>
          </a:p>
        </p:txBody>
      </p:sp>
      <p:sp>
        <p:nvSpPr>
          <p:cNvPr id="14" name="t54"/>
          <p:cNvSpPr txBox="1"/>
          <p:nvPr/>
        </p:nvSpPr>
        <p:spPr>
          <a:xfrm>
            <a:off x="4425696" y="18288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card55"/>
          <p:cNvSpPr/>
          <p:nvPr/>
        </p:nvSpPr>
        <p:spPr>
          <a:xfrm>
            <a:off x="4663440" y="1188720"/>
            <a:ext cx="1874520" cy="32004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circ56"/>
          <p:cNvSpPr/>
          <p:nvPr/>
        </p:nvSpPr>
        <p:spPr>
          <a:xfrm>
            <a:off x="5212080" y="1417320"/>
            <a:ext cx="777240" cy="777240"/>
          </a:xfrm>
          <a:prstGeom prst="ellipse">
            <a:avLst/>
          </a:prstGeom>
          <a:solidFill>
            <a:srgbClr val="E6F0E9"/>
          </a:solidFill>
          <a:ln w="12700">
            <a:solidFill>
              <a:srgbClr val="E6F0E9"/>
            </a:solidFill>
            <a:prstDash val="solid"/>
          </a:ln>
        </p:spPr>
      </p:sp>
      <p:sp>
        <p:nvSpPr>
          <p:cNvPr id="17" name="ico57"/>
          <p:cNvSpPr txBox="1"/>
          <p:nvPr/>
        </p:nvSpPr>
        <p:spPr>
          <a:xfrm>
            <a:off x="521208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18" name="t58"/>
          <p:cNvSpPr txBox="1"/>
          <p:nvPr/>
        </p:nvSpPr>
        <p:spPr>
          <a:xfrm>
            <a:off x="4846320" y="2377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Notify</a:t>
            </a:r>
            <a:endParaRPr lang="en-US" sz="1800" dirty="0"/>
          </a:p>
        </p:txBody>
      </p:sp>
      <p:sp>
        <p:nvSpPr>
          <p:cNvPr id="19" name="t59"/>
          <p:cNvSpPr txBox="1"/>
          <p:nvPr/>
        </p:nvSpPr>
        <p:spPr>
          <a:xfrm>
            <a:off x="4846320" y="283464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Top matches get an instant real-time alert and claim with one tap.</a:t>
            </a:r>
            <a:endParaRPr lang="en-US" sz="1300" dirty="0"/>
          </a:p>
        </p:txBody>
      </p:sp>
      <p:sp>
        <p:nvSpPr>
          <p:cNvPr id="20" name="t60"/>
          <p:cNvSpPr txBox="1"/>
          <p:nvPr/>
        </p:nvSpPr>
        <p:spPr>
          <a:xfrm>
            <a:off x="6528816" y="182880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card61"/>
          <p:cNvSpPr/>
          <p:nvPr/>
        </p:nvSpPr>
        <p:spPr>
          <a:xfrm>
            <a:off x="6766560" y="1188720"/>
            <a:ext cx="1874520" cy="32004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circ62"/>
          <p:cNvSpPr/>
          <p:nvPr/>
        </p:nvSpPr>
        <p:spPr>
          <a:xfrm>
            <a:off x="7315200" y="1417320"/>
            <a:ext cx="777240" cy="777240"/>
          </a:xfrm>
          <a:prstGeom prst="ellipse">
            <a:avLst/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23" name="ico63"/>
          <p:cNvSpPr txBox="1"/>
          <p:nvPr/>
        </p:nvSpPr>
        <p:spPr>
          <a:xfrm>
            <a:off x="7315200" y="1417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🚚</a:t>
            </a:r>
            <a:endParaRPr lang="en-US" sz="2400" dirty="0"/>
          </a:p>
        </p:txBody>
      </p:sp>
      <p:sp>
        <p:nvSpPr>
          <p:cNvPr id="24" name="t64"/>
          <p:cNvSpPr txBox="1"/>
          <p:nvPr/>
        </p:nvSpPr>
        <p:spPr>
          <a:xfrm>
            <a:off x="6949440" y="2377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Track</a:t>
            </a:r>
            <a:endParaRPr lang="en-US" sz="1800" dirty="0"/>
          </a:p>
        </p:txBody>
      </p:sp>
      <p:sp>
        <p:nvSpPr>
          <p:cNvPr id="25" name="t65"/>
          <p:cNvSpPr txBox="1"/>
          <p:nvPr/>
        </p:nvSpPr>
        <p:spPr>
          <a:xfrm>
            <a:off x="6949440" y="2834640"/>
            <a:ext cx="1508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Claimed → Picked up → Delivered. Donor sees how many people were fed.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(focus areas covered)</a:t>
            </a:r>
            <a:endParaRPr lang="en-US" sz="2800" dirty="0"/>
          </a:p>
        </p:txBody>
      </p:sp>
      <p:sp>
        <p:nvSpPr>
          <p:cNvPr id="3" name="card66"/>
          <p:cNvSpPr/>
          <p:nvPr/>
        </p:nvSpPr>
        <p:spPr>
          <a:xfrm>
            <a:off x="457200" y="10972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irc67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E6F0E9"/>
          </a:solidFill>
          <a:ln w="12700">
            <a:solidFill>
              <a:srgbClr val="E6F0E9"/>
            </a:solidFill>
            <a:prstDash val="solid"/>
          </a:ln>
        </p:spPr>
      </p:sp>
      <p:sp>
        <p:nvSpPr>
          <p:cNvPr id="5" name="ico68"/>
          <p:cNvSpPr txBox="1"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6" name="t69"/>
          <p:cNvSpPr txBox="1"/>
          <p:nvPr/>
        </p:nvSpPr>
        <p:spPr>
          <a:xfrm>
            <a:off x="13258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1600" dirty="0"/>
          </a:p>
        </p:txBody>
      </p:sp>
      <p:sp>
        <p:nvSpPr>
          <p:cNvPr id="7" name="t70"/>
          <p:cNvSpPr txBox="1"/>
          <p:nvPr/>
        </p:nvSpPr>
        <p:spPr>
          <a:xfrm>
            <a:off x="64008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JWT auth, role-based access, validation, rate limiting, logging, error handler</a:t>
            </a:r>
            <a:endParaRPr lang="en-US" sz="1200" dirty="0"/>
          </a:p>
        </p:txBody>
      </p:sp>
      <p:sp>
        <p:nvSpPr>
          <p:cNvPr id="8" name="card71"/>
          <p:cNvSpPr/>
          <p:nvPr/>
        </p:nvSpPr>
        <p:spPr>
          <a:xfrm>
            <a:off x="3246120" y="10972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circ72"/>
          <p:cNvSpPr/>
          <p:nvPr/>
        </p:nvSpPr>
        <p:spPr>
          <a:xfrm>
            <a:off x="3429000" y="1325880"/>
            <a:ext cx="548640" cy="548640"/>
          </a:xfrm>
          <a:prstGeom prst="ellipse">
            <a:avLst/>
          </a:prstGeom>
          <a:solidFill>
            <a:srgbClr val="E6F0E9"/>
          </a:solidFill>
          <a:ln w="12700">
            <a:solidFill>
              <a:srgbClr val="E6F0E9"/>
            </a:solidFill>
            <a:prstDash val="solid"/>
          </a:ln>
        </p:spPr>
      </p:sp>
      <p:sp>
        <p:nvSpPr>
          <p:cNvPr id="10" name="ico73"/>
          <p:cNvSpPr txBox="1"/>
          <p:nvPr/>
        </p:nvSpPr>
        <p:spPr>
          <a:xfrm>
            <a:off x="34290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</a:t>
            </a:r>
            <a:endParaRPr lang="en-US" sz="1600" dirty="0"/>
          </a:p>
        </p:txBody>
      </p:sp>
      <p:sp>
        <p:nvSpPr>
          <p:cNvPr id="11" name="t74"/>
          <p:cNvSpPr txBox="1"/>
          <p:nvPr/>
        </p:nvSpPr>
        <p:spPr>
          <a:xfrm>
            <a:off x="411480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2" name="t75"/>
          <p:cNvSpPr txBox="1"/>
          <p:nvPr/>
        </p:nvSpPr>
        <p:spPr>
          <a:xfrm>
            <a:off x="342900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SQLite: users, donations, notifications with keys, constraints &amp; indexes</a:t>
            </a:r>
            <a:endParaRPr lang="en-US" sz="1200" dirty="0"/>
          </a:p>
        </p:txBody>
      </p:sp>
      <p:sp>
        <p:nvSpPr>
          <p:cNvPr id="13" name="card76"/>
          <p:cNvSpPr/>
          <p:nvPr/>
        </p:nvSpPr>
        <p:spPr>
          <a:xfrm>
            <a:off x="6035040" y="109728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circ77"/>
          <p:cNvSpPr/>
          <p:nvPr/>
        </p:nvSpPr>
        <p:spPr>
          <a:xfrm>
            <a:off x="6217920" y="1325880"/>
            <a:ext cx="548640" cy="548640"/>
          </a:xfrm>
          <a:prstGeom prst="ellipse">
            <a:avLst/>
          </a:prstGeom>
          <a:solidFill>
            <a:srgbClr val="E6F0E9"/>
          </a:solidFill>
          <a:ln w="12700">
            <a:solidFill>
              <a:srgbClr val="E6F0E9"/>
            </a:solidFill>
            <a:prstDash val="solid"/>
          </a:ln>
        </p:spPr>
      </p:sp>
      <p:sp>
        <p:nvSpPr>
          <p:cNvPr id="15" name="ico78"/>
          <p:cNvSpPr txBox="1"/>
          <p:nvPr/>
        </p:nvSpPr>
        <p:spPr>
          <a:xfrm>
            <a:off x="62179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🖼</a:t>
            </a:r>
            <a:endParaRPr lang="en-US" sz="1600" dirty="0"/>
          </a:p>
        </p:txBody>
      </p:sp>
      <p:sp>
        <p:nvSpPr>
          <p:cNvPr id="16" name="t79"/>
          <p:cNvSpPr txBox="1"/>
          <p:nvPr/>
        </p:nvSpPr>
        <p:spPr>
          <a:xfrm>
            <a:off x="690372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upload</a:t>
            </a:r>
            <a:endParaRPr lang="en-US" sz="1600" dirty="0"/>
          </a:p>
        </p:txBody>
      </p:sp>
      <p:sp>
        <p:nvSpPr>
          <p:cNvPr id="17" name="t80"/>
          <p:cNvSpPr txBox="1"/>
          <p:nvPr/>
        </p:nvSpPr>
        <p:spPr>
          <a:xfrm>
            <a:off x="621792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Multer upload with type &amp; 5 MB size checks; photos shown on cards</a:t>
            </a:r>
            <a:endParaRPr lang="en-US" sz="1200" dirty="0"/>
          </a:p>
        </p:txBody>
      </p:sp>
      <p:sp>
        <p:nvSpPr>
          <p:cNvPr id="18" name="card81"/>
          <p:cNvSpPr/>
          <p:nvPr/>
        </p:nvSpPr>
        <p:spPr>
          <a:xfrm>
            <a:off x="457200" y="28803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circ82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20" name="ico83"/>
          <p:cNvSpPr txBox="1"/>
          <p:nvPr/>
        </p:nvSpPr>
        <p:spPr>
          <a:xfrm>
            <a:off x="64008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1" name="t84"/>
          <p:cNvSpPr txBox="1"/>
          <p:nvPr/>
        </p:nvSpPr>
        <p:spPr>
          <a:xfrm>
            <a:off x="132588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alerts</a:t>
            </a:r>
            <a:endParaRPr lang="en-US" sz="1600" dirty="0"/>
          </a:p>
        </p:txBody>
      </p:sp>
      <p:sp>
        <p:nvSpPr>
          <p:cNvPr id="22" name="t85"/>
          <p:cNvSpPr txBox="1"/>
          <p:nvPr/>
        </p:nvSpPr>
        <p:spPr>
          <a:xfrm>
            <a:off x="64008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Socket.io push for new match, claim, pickup, delivery, expiry</a:t>
            </a:r>
            <a:endParaRPr lang="en-US" sz="1200" dirty="0"/>
          </a:p>
        </p:txBody>
      </p:sp>
      <p:sp>
        <p:nvSpPr>
          <p:cNvPr id="23" name="card86"/>
          <p:cNvSpPr/>
          <p:nvPr/>
        </p:nvSpPr>
        <p:spPr>
          <a:xfrm>
            <a:off x="3246120" y="28803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circ87"/>
          <p:cNvSpPr/>
          <p:nvPr/>
        </p:nvSpPr>
        <p:spPr>
          <a:xfrm>
            <a:off x="3429000" y="3108960"/>
            <a:ext cx="548640" cy="548640"/>
          </a:xfrm>
          <a:prstGeom prst="ellipse">
            <a:avLst/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25" name="ico88"/>
          <p:cNvSpPr txBox="1"/>
          <p:nvPr/>
        </p:nvSpPr>
        <p:spPr>
          <a:xfrm>
            <a:off x="342900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</a:t>
            </a:r>
            <a:endParaRPr lang="en-US" sz="1600" dirty="0"/>
          </a:p>
        </p:txBody>
      </p:sp>
      <p:sp>
        <p:nvSpPr>
          <p:cNvPr id="26" name="t89"/>
          <p:cNvSpPr txBox="1"/>
          <p:nvPr/>
        </p:nvSpPr>
        <p:spPr>
          <a:xfrm>
            <a:off x="411480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</a:t>
            </a:r>
            <a:endParaRPr lang="en-US" sz="1600" dirty="0"/>
          </a:p>
        </p:txBody>
      </p:sp>
      <p:sp>
        <p:nvSpPr>
          <p:cNvPr id="27" name="t90"/>
          <p:cNvSpPr txBox="1"/>
          <p:nvPr/>
        </p:nvSpPr>
        <p:spPr>
          <a:xfrm>
            <a:off x="34290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Leaflet + OpenStreetMap live map, GPS location picker, directions</a:t>
            </a:r>
            <a:endParaRPr lang="en-US" sz="1200" dirty="0"/>
          </a:p>
        </p:txBody>
      </p:sp>
      <p:sp>
        <p:nvSpPr>
          <p:cNvPr id="28" name="card91"/>
          <p:cNvSpPr/>
          <p:nvPr/>
        </p:nvSpPr>
        <p:spPr>
          <a:xfrm>
            <a:off x="6035040" y="288036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circ92"/>
          <p:cNvSpPr/>
          <p:nvPr/>
        </p:nvSpPr>
        <p:spPr>
          <a:xfrm>
            <a:off x="6217920" y="3108960"/>
            <a:ext cx="548640" cy="548640"/>
          </a:xfrm>
          <a:prstGeom prst="ellipse">
            <a:avLst/>
          </a:prstGeom>
          <a:solidFill>
            <a:srgbClr val="FDF0DC"/>
          </a:solidFill>
          <a:ln w="12700">
            <a:solidFill>
              <a:srgbClr val="FDF0DC"/>
            </a:solidFill>
            <a:prstDash val="solid"/>
          </a:ln>
        </p:spPr>
      </p:sp>
      <p:sp>
        <p:nvSpPr>
          <p:cNvPr id="30" name="ico93"/>
          <p:cNvSpPr txBox="1"/>
          <p:nvPr/>
        </p:nvSpPr>
        <p:spPr>
          <a:xfrm>
            <a:off x="62179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31" name="t94"/>
          <p:cNvSpPr txBox="1"/>
          <p:nvPr/>
        </p:nvSpPr>
        <p:spPr>
          <a:xfrm>
            <a:off x="690372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matching</a:t>
            </a:r>
            <a:endParaRPr lang="en-US" sz="1600" dirty="0"/>
          </a:p>
        </p:txBody>
      </p:sp>
      <p:sp>
        <p:nvSpPr>
          <p:cNvPr id="32" name="t95"/>
          <p:cNvSpPr txBox="1"/>
          <p:nvPr/>
        </p:nvSpPr>
        <p:spPr>
          <a:xfrm>
            <a:off x="621792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Explainable match score + AI food check (Gemini or rule-based)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smart matching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389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96"/>
          <p:cNvSpPr/>
          <p:nvPr/>
        </p:nvSpPr>
        <p:spPr>
          <a:xfrm>
            <a:off x="5029200" y="1051560"/>
            <a:ext cx="3657600" cy="3520440"/>
          </a:xfrm>
          <a:prstGeom prst="roundRect">
            <a:avLst>
              <a:gd name="adj" fmla="val 3117"/>
            </a:avLst>
          </a:prstGeom>
          <a:solidFill>
            <a:srgbClr val="F1F5F2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97"/>
          <p:cNvSpPr txBox="1"/>
          <p:nvPr/>
        </p:nvSpPr>
        <p:spPr>
          <a:xfrm>
            <a:off x="525780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score works</a:t>
            </a:r>
            <a:endParaRPr lang="en-US" sz="1600" dirty="0"/>
          </a:p>
        </p:txBody>
      </p:sp>
      <p:sp>
        <p:nvSpPr>
          <p:cNvPr id="6" name="t98"/>
          <p:cNvSpPr txBox="1"/>
          <p:nvPr/>
        </p:nvSpPr>
        <p:spPr>
          <a:xfrm>
            <a:off x="5257800" y="164592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Haversine distance, 0 at 15 km radius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Food expiring within 2 h gets top priority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Servings compared with receiver capacity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Veg-only receivers never get non-veg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Fewer pending pickups → fairer share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Top 5 matches (≥35%) notified instantly</a:t>
            </a:r>
            <a:endParaRPr lang="en-US" sz="1300" dirty="0"/>
          </a:p>
        </p:txBody>
      </p:sp>
      <p:sp>
        <p:nvSpPr>
          <p:cNvPr id="7" name="t99"/>
          <p:cNvSpPr txBox="1"/>
          <p:nvPr/>
        </p:nvSpPr>
        <p:spPr>
          <a:xfrm>
            <a:off x="5257800" y="38862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Every match shows its reasons, e.g. “Very close (1.5 km)” · “Expires within 2 hours”.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card100"/>
          <p:cNvSpPr/>
          <p:nvPr/>
        </p:nvSpPr>
        <p:spPr>
          <a:xfrm>
            <a:off x="457200" y="1188720"/>
            <a:ext cx="2057400" cy="3108960"/>
          </a:xfrm>
          <a:prstGeom prst="roundRect">
            <a:avLst>
              <a:gd name="adj" fmla="val 5333"/>
            </a:avLst>
          </a:prstGeom>
          <a:solidFill>
            <a:srgbClr val="E6F0E9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101"/>
          <p:cNvSpPr txBox="1"/>
          <p:nvPr/>
        </p:nvSpPr>
        <p:spPr>
          <a:xfrm>
            <a:off x="594360" y="1298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 React client</a:t>
            </a:r>
            <a:endParaRPr lang="en-US" sz="1400" dirty="0"/>
          </a:p>
        </p:txBody>
      </p:sp>
      <p:sp>
        <p:nvSpPr>
          <p:cNvPr id="5" name="t102"/>
          <p:cNvSpPr txBox="1"/>
          <p:nvPr/>
        </p:nvSpPr>
        <p:spPr>
          <a:xfrm>
            <a:off x="594360" y="1645920"/>
            <a:ext cx="1783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Vite + React Router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Donor / Receiver / Admin dashboards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Leaflet maps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Socket.io 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Notification bell &amp; toasts</a:t>
            </a:r>
            <a:endParaRPr lang="en-US" sz="1100" dirty="0"/>
          </a:p>
        </p:txBody>
      </p:sp>
      <p:sp>
        <p:nvSpPr>
          <p:cNvPr id="6" name="card103"/>
          <p:cNvSpPr/>
          <p:nvPr/>
        </p:nvSpPr>
        <p:spPr>
          <a:xfrm>
            <a:off x="3291840" y="10058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104"/>
          <p:cNvSpPr txBox="1"/>
          <p:nvPr/>
        </p:nvSpPr>
        <p:spPr>
          <a:xfrm>
            <a:off x="3429000" y="1115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 Express API (Node.js)</a:t>
            </a:r>
            <a:endParaRPr lang="en-US" sz="1400" dirty="0"/>
          </a:p>
        </p:txBody>
      </p:sp>
      <p:sp>
        <p:nvSpPr>
          <p:cNvPr id="8" name="t105"/>
          <p:cNvSpPr txBox="1"/>
          <p:nvPr/>
        </p:nvSpPr>
        <p:spPr>
          <a:xfrm>
            <a:off x="3429000" y="1463040"/>
            <a:ext cx="2468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Middleware: JWT auth · roles · validation · rate limit · logger · errors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Routes: auth · donations · notifications · stats · admin · ai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Services: matching engine · food analyzer · notifier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Job: auto-expire every minute</a:t>
            </a:r>
            <a:endParaRPr lang="en-US" sz="1100" dirty="0"/>
          </a:p>
        </p:txBody>
      </p:sp>
      <p:sp>
        <p:nvSpPr>
          <p:cNvPr id="9" name="card106"/>
          <p:cNvSpPr/>
          <p:nvPr/>
        </p:nvSpPr>
        <p:spPr>
          <a:xfrm>
            <a:off x="6583680" y="100584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FDF0DC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107"/>
          <p:cNvSpPr txBox="1"/>
          <p:nvPr/>
        </p:nvSpPr>
        <p:spPr>
          <a:xfrm>
            <a:off x="672084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🗄 SQLite</a:t>
            </a:r>
            <a:endParaRPr lang="en-US" sz="1400" dirty="0"/>
          </a:p>
        </p:txBody>
      </p:sp>
      <p:sp>
        <p:nvSpPr>
          <p:cNvPr id="11" name="t108"/>
          <p:cNvSpPr txBox="1"/>
          <p:nvPr/>
        </p:nvSpPr>
        <p:spPr>
          <a:xfrm>
            <a:off x="67208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users · donations · notifications</a:t>
            </a:r>
            <a:endParaRPr lang="en-US" sz="1100" dirty="0"/>
          </a:p>
        </p:txBody>
      </p:sp>
      <p:sp>
        <p:nvSpPr>
          <p:cNvPr id="12" name="card109"/>
          <p:cNvSpPr/>
          <p:nvPr/>
        </p:nvSpPr>
        <p:spPr>
          <a:xfrm>
            <a:off x="6583680" y="224028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FDF0DC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110"/>
          <p:cNvSpPr txBox="1"/>
          <p:nvPr/>
        </p:nvSpPr>
        <p:spPr>
          <a:xfrm>
            <a:off x="6720840" y="2350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🖼 Uploads</a:t>
            </a:r>
            <a:endParaRPr lang="en-US" sz="1400" dirty="0"/>
          </a:p>
        </p:txBody>
      </p:sp>
      <p:sp>
        <p:nvSpPr>
          <p:cNvPr id="14" name="t111"/>
          <p:cNvSpPr txBox="1"/>
          <p:nvPr/>
        </p:nvSpPr>
        <p:spPr>
          <a:xfrm>
            <a:off x="672084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Multer · /uploads</a:t>
            </a:r>
            <a:endParaRPr lang="en-US" sz="1100" dirty="0"/>
          </a:p>
        </p:txBody>
      </p:sp>
      <p:sp>
        <p:nvSpPr>
          <p:cNvPr id="15" name="card112"/>
          <p:cNvSpPr/>
          <p:nvPr/>
        </p:nvSpPr>
        <p:spPr>
          <a:xfrm>
            <a:off x="6583680" y="342900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E6EEFB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113"/>
          <p:cNvSpPr txBox="1"/>
          <p:nvPr/>
        </p:nvSpPr>
        <p:spPr>
          <a:xfrm>
            <a:off x="6720840" y="3538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Gemini (optional)</a:t>
            </a:r>
            <a:endParaRPr lang="en-US" sz="1400" dirty="0"/>
          </a:p>
        </p:txBody>
      </p:sp>
      <p:sp>
        <p:nvSpPr>
          <p:cNvPr id="17" name="t114"/>
          <p:cNvSpPr txBox="1"/>
          <p:nvPr/>
        </p:nvSpPr>
        <p:spPr>
          <a:xfrm>
            <a:off x="6720840" y="3886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AI food check; rule fallback</a:t>
            </a:r>
            <a:endParaRPr lang="en-US" sz="1100" dirty="0"/>
          </a:p>
        </p:txBody>
      </p:sp>
      <p:sp>
        <p:nvSpPr>
          <p:cNvPr id="18" name="t115"/>
          <p:cNvSpPr txBox="1"/>
          <p:nvPr/>
        </p:nvSpPr>
        <p:spPr>
          <a:xfrm>
            <a:off x="2532888" y="2194560"/>
            <a:ext cx="74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REST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⇄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Socket.io</a:t>
            </a:r>
            <a:endParaRPr lang="en-US" sz="900" dirty="0"/>
          </a:p>
        </p:txBody>
      </p:sp>
      <p:sp>
        <p:nvSpPr>
          <p:cNvPr id="19" name="t116"/>
          <p:cNvSpPr txBox="1"/>
          <p:nvPr/>
        </p:nvSpPr>
        <p:spPr>
          <a:xfrm>
            <a:off x="6053328" y="1325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⇄</a:t>
            </a:r>
            <a:endParaRPr lang="en-US" sz="1800" dirty="0"/>
          </a:p>
        </p:txBody>
      </p:sp>
      <p:sp>
        <p:nvSpPr>
          <p:cNvPr id="20" name="t117"/>
          <p:cNvSpPr txBox="1"/>
          <p:nvPr/>
        </p:nvSpPr>
        <p:spPr>
          <a:xfrm>
            <a:off x="6053328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⇄</a:t>
            </a:r>
            <a:endParaRPr lang="en-US" sz="1800" dirty="0"/>
          </a:p>
        </p:txBody>
      </p:sp>
      <p:sp>
        <p:nvSpPr>
          <p:cNvPr id="21" name="t118"/>
          <p:cNvSpPr txBox="1"/>
          <p:nvPr/>
        </p:nvSpPr>
        <p:spPr>
          <a:xfrm>
            <a:off x="6053328" y="3749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&amp; donation lifecycle</a:t>
            </a:r>
            <a:endParaRPr lang="en-US" sz="2800" dirty="0"/>
          </a:p>
        </p:txBody>
      </p:sp>
      <p:sp>
        <p:nvSpPr>
          <p:cNvPr id="3" name="card119"/>
          <p:cNvSpPr/>
          <p:nvPr/>
        </p:nvSpPr>
        <p:spPr>
          <a:xfrm>
            <a:off x="457200" y="105156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1F5F2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120"/>
          <p:cNvSpPr txBox="1"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400" dirty="0"/>
          </a:p>
        </p:txBody>
      </p:sp>
      <p:sp>
        <p:nvSpPr>
          <p:cNvPr id="5" name="t121"/>
          <p:cNvSpPr txBox="1"/>
          <p:nvPr/>
        </p:nvSpPr>
        <p:spPr>
          <a:xfrm>
            <a:off x="640080" y="143560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id, name, email, password_hash, role, phone, org_name, org_type, lat, lng, food_preference, capacity</a:t>
            </a:r>
            <a:endParaRPr lang="en-US" sz="1100" dirty="0"/>
          </a:p>
        </p:txBody>
      </p:sp>
      <p:sp>
        <p:nvSpPr>
          <p:cNvPr id="6" name="card122"/>
          <p:cNvSpPr/>
          <p:nvPr/>
        </p:nvSpPr>
        <p:spPr>
          <a:xfrm>
            <a:off x="457200" y="224028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1F5F2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123"/>
          <p:cNvSpPr txBox="1"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donations</a:t>
            </a:r>
            <a:endParaRPr lang="en-US" sz="1400" dirty="0"/>
          </a:p>
        </p:txBody>
      </p:sp>
      <p:sp>
        <p:nvSpPr>
          <p:cNvPr id="8" name="t124"/>
          <p:cNvSpPr txBox="1"/>
          <p:nvPr/>
        </p:nvSpPr>
        <p:spPr>
          <a:xfrm>
            <a:off x="640080" y="262432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id, donor_id → users, title, category, food_type, quantity, image, lat, lng, expires_at, status, claimed_by → users, timestamps</a:t>
            </a:r>
            <a:endParaRPr lang="en-US" sz="1100" dirty="0"/>
          </a:p>
        </p:txBody>
      </p:sp>
      <p:sp>
        <p:nvSpPr>
          <p:cNvPr id="9" name="card125"/>
          <p:cNvSpPr/>
          <p:nvPr/>
        </p:nvSpPr>
        <p:spPr>
          <a:xfrm>
            <a:off x="457200" y="3429000"/>
            <a:ext cx="4023360" cy="1051560"/>
          </a:xfrm>
          <a:prstGeom prst="roundRect">
            <a:avLst>
              <a:gd name="adj" fmla="val 10435"/>
            </a:avLst>
          </a:prstGeom>
          <a:solidFill>
            <a:srgbClr val="F1F5F2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126"/>
          <p:cNvSpPr txBox="1"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11" name="t127"/>
          <p:cNvSpPr txBox="1"/>
          <p:nvPr/>
        </p:nvSpPr>
        <p:spPr>
          <a:xfrm>
            <a:off x="640080" y="381304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id, user_id → users, message, type, donation_id, is_read, created_at</a:t>
            </a:r>
            <a:endParaRPr lang="en-US" sz="1100" dirty="0"/>
          </a:p>
        </p:txBody>
      </p:sp>
      <p:sp>
        <p:nvSpPr>
          <p:cNvPr id="12" name="t128"/>
          <p:cNvSpPr txBox="1"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flow</a:t>
            </a:r>
            <a:endParaRPr lang="en-US" sz="1500" dirty="0"/>
          </a:p>
        </p:txBody>
      </p:sp>
      <p:sp>
        <p:nvSpPr>
          <p:cNvPr id="13" name="st0"/>
          <p:cNvSpPr/>
          <p:nvPr/>
        </p:nvSpPr>
        <p:spPr>
          <a:xfrm>
            <a:off x="4937760" y="14630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6F0E9"/>
          </a:solidFill>
          <a:ln w="9525">
            <a:solidFill>
              <a:srgbClr val="C9D6CD"/>
            </a:solidFill>
            <a:prstDash val="solid"/>
          </a:ln>
        </p:spPr>
      </p:sp>
      <p:sp>
        <p:nvSpPr>
          <p:cNvPr id="14" name="t129"/>
          <p:cNvSpPr txBox="1"/>
          <p:nvPr/>
        </p:nvSpPr>
        <p:spPr>
          <a:xfrm>
            <a:off x="4937760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</a:t>
            </a:r>
            <a:endParaRPr lang="en-US" sz="1300" dirty="0"/>
          </a:p>
        </p:txBody>
      </p:sp>
      <p:sp>
        <p:nvSpPr>
          <p:cNvPr id="15" name="t130"/>
          <p:cNvSpPr txBox="1"/>
          <p:nvPr/>
        </p:nvSpPr>
        <p:spPr>
          <a:xfrm>
            <a:off x="4937760" y="1920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↓ claim</a:t>
            </a:r>
            <a:endParaRPr lang="en-US" sz="1000" dirty="0"/>
          </a:p>
        </p:txBody>
      </p:sp>
      <p:sp>
        <p:nvSpPr>
          <p:cNvPr id="16" name="st1"/>
          <p:cNvSpPr/>
          <p:nvPr/>
        </p:nvSpPr>
        <p:spPr>
          <a:xfrm>
            <a:off x="4937760" y="21488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 w="9525">
            <a:solidFill>
              <a:srgbClr val="C9D6CD"/>
            </a:solidFill>
            <a:prstDash val="solid"/>
          </a:ln>
        </p:spPr>
      </p:sp>
      <p:sp>
        <p:nvSpPr>
          <p:cNvPr id="17" name="t131"/>
          <p:cNvSpPr txBox="1"/>
          <p:nvPr/>
        </p:nvSpPr>
        <p:spPr>
          <a:xfrm>
            <a:off x="493776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claimed</a:t>
            </a:r>
            <a:endParaRPr lang="en-US" sz="1300" dirty="0"/>
          </a:p>
        </p:txBody>
      </p:sp>
      <p:sp>
        <p:nvSpPr>
          <p:cNvPr id="18" name="t132"/>
          <p:cNvSpPr txBox="1"/>
          <p:nvPr/>
        </p:nvSpPr>
        <p:spPr>
          <a:xfrm>
            <a:off x="493776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↓ pickup</a:t>
            </a:r>
            <a:endParaRPr lang="en-US" sz="1000" dirty="0"/>
          </a:p>
        </p:txBody>
      </p:sp>
      <p:sp>
        <p:nvSpPr>
          <p:cNvPr id="19" name="st2"/>
          <p:cNvSpPr/>
          <p:nvPr/>
        </p:nvSpPr>
        <p:spPr>
          <a:xfrm>
            <a:off x="4937760" y="28346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E6EEFB"/>
          </a:solidFill>
          <a:ln w="9525">
            <a:solidFill>
              <a:srgbClr val="C9D6CD"/>
            </a:solidFill>
            <a:prstDash val="solid"/>
          </a:ln>
        </p:spPr>
      </p:sp>
      <p:sp>
        <p:nvSpPr>
          <p:cNvPr id="20" name="t133"/>
          <p:cNvSpPr txBox="1"/>
          <p:nvPr/>
        </p:nvSpPr>
        <p:spPr>
          <a:xfrm>
            <a:off x="4937760" y="2834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picked_up</a:t>
            </a:r>
            <a:endParaRPr lang="en-US" sz="1300" dirty="0"/>
          </a:p>
        </p:txBody>
      </p:sp>
      <p:sp>
        <p:nvSpPr>
          <p:cNvPr id="21" name="t134"/>
          <p:cNvSpPr txBox="1"/>
          <p:nvPr/>
        </p:nvSpPr>
        <p:spPr>
          <a:xfrm>
            <a:off x="493776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↓ deliver</a:t>
            </a:r>
            <a:endParaRPr lang="en-US" sz="1000" dirty="0"/>
          </a:p>
        </p:txBody>
      </p:sp>
      <p:sp>
        <p:nvSpPr>
          <p:cNvPr id="22" name="st3"/>
          <p:cNvSpPr/>
          <p:nvPr/>
        </p:nvSpPr>
        <p:spPr>
          <a:xfrm>
            <a:off x="4937760" y="352044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D9F0E2"/>
          </a:solidFill>
          <a:ln w="9525">
            <a:solidFill>
              <a:srgbClr val="C9D6CD"/>
            </a:solidFill>
            <a:prstDash val="solid"/>
          </a:ln>
        </p:spPr>
      </p:sp>
      <p:sp>
        <p:nvSpPr>
          <p:cNvPr id="23" name="t135"/>
          <p:cNvSpPr txBox="1"/>
          <p:nvPr/>
        </p:nvSpPr>
        <p:spPr>
          <a:xfrm>
            <a:off x="493776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</a:t>
            </a:r>
            <a:endParaRPr lang="en-US" sz="1300" dirty="0"/>
          </a:p>
        </p:txBody>
      </p:sp>
      <p:sp>
        <p:nvSpPr>
          <p:cNvPr id="24" name="t136"/>
          <p:cNvSpPr txBox="1"/>
          <p:nvPr/>
        </p:nvSpPr>
        <p:spPr>
          <a:xfrm>
            <a:off x="6949440" y="1463040"/>
            <a:ext cx="1737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unclaim → back to available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cancel → cancelled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safe time passed → expired (auto job)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accent6"/>
                </a:solidFill>
              </a:rPr>
              <a:t>Claim is one atomic SQL UPDATE — two receivers can never claim the same food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Screens: landing &amp; receiver matches</a:t>
            </a:r>
            <a:endParaRPr lang="en-US" sz="2800" dirty="0"/>
          </a:p>
        </p:txBody>
      </p:sp>
      <p:sp>
        <p:nvSpPr>
          <p:cNvPr id="3" name="frame137"/>
          <p:cNvSpPr/>
          <p:nvPr/>
        </p:nvSpPr>
        <p:spPr>
          <a:xfrm>
            <a:off x="411480" y="1051560"/>
            <a:ext cx="4114800" cy="2807208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9525">
            <a:solidFill>
              <a:srgbClr val="D7DD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shot138" descr="Landing page with live impact stats (meals, food saved, CO₂ avoided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651760"/>
          </a:xfrm>
          <a:prstGeom prst="rect">
            <a:avLst/>
          </a:prstGeom>
        </p:spPr>
      </p:pic>
      <p:sp>
        <p:nvSpPr>
          <p:cNvPr id="5" name="t139"/>
          <p:cNvSpPr txBox="1"/>
          <p:nvPr/>
        </p:nvSpPr>
        <p:spPr>
          <a:xfrm>
            <a:off x="457200" y="3977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Landing page with live impact stats (meals, food saved, CO₂ avoided).</a:t>
            </a:r>
            <a:endParaRPr lang="en-US" sz="1200" dirty="0"/>
          </a:p>
        </p:txBody>
      </p:sp>
      <p:sp>
        <p:nvSpPr>
          <p:cNvPr id="6" name="frame140"/>
          <p:cNvSpPr/>
          <p:nvPr/>
        </p:nvSpPr>
        <p:spPr>
          <a:xfrm>
            <a:off x="4617720" y="1051560"/>
            <a:ext cx="4114800" cy="2807208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9525">
            <a:solidFill>
              <a:srgbClr val="D7DD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shot141" descr="Receiver dashboard: live map + real-time “new food match” notification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651760"/>
          </a:xfrm>
          <a:prstGeom prst="rect">
            <a:avLst/>
          </a:prstGeom>
        </p:spPr>
      </p:pic>
      <p:sp>
        <p:nvSpPr>
          <p:cNvPr id="8" name="t142"/>
          <p:cNvSpPr txBox="1"/>
          <p:nvPr/>
        </p:nvSpPr>
        <p:spPr>
          <a:xfrm>
            <a:off x="4663440" y="3977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Receiver dashboard: live map + real-time “new food match” notification.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Screens: posting food &amp; donor tracking</a:t>
            </a:r>
            <a:endParaRPr lang="en-US" sz="2800" dirty="0"/>
          </a:p>
        </p:txBody>
      </p:sp>
      <p:sp>
        <p:nvSpPr>
          <p:cNvPr id="3" name="frame143"/>
          <p:cNvSpPr/>
          <p:nvPr/>
        </p:nvSpPr>
        <p:spPr>
          <a:xfrm>
            <a:off x="411480" y="1051560"/>
            <a:ext cx="4114800" cy="2807208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9525">
            <a:solidFill>
              <a:srgbClr val="D7DD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shot144" descr="Post food form with AI food check, photo upload and map picke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651760"/>
          </a:xfrm>
          <a:prstGeom prst="rect">
            <a:avLst/>
          </a:prstGeom>
        </p:spPr>
      </p:pic>
      <p:sp>
        <p:nvSpPr>
          <p:cNvPr id="5" name="t145"/>
          <p:cNvSpPr txBox="1"/>
          <p:nvPr/>
        </p:nvSpPr>
        <p:spPr>
          <a:xfrm>
            <a:off x="457200" y="3977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Post food form with AI food check, photo upload and map picker.</a:t>
            </a:r>
            <a:endParaRPr lang="en-US" sz="1200" dirty="0"/>
          </a:p>
        </p:txBody>
      </p:sp>
      <p:sp>
        <p:nvSpPr>
          <p:cNvPr id="6" name="frame146"/>
          <p:cNvSpPr/>
          <p:nvPr/>
        </p:nvSpPr>
        <p:spPr>
          <a:xfrm>
            <a:off x="4617720" y="1051560"/>
            <a:ext cx="4114800" cy="2807208"/>
          </a:xfrm>
          <a:prstGeom prst="roundRect">
            <a:avLst>
              <a:gd name="adj" fmla="val 2606"/>
            </a:avLst>
          </a:prstGeom>
          <a:solidFill>
            <a:srgbClr val="FFFFFF"/>
          </a:solidFill>
          <a:ln w="9525">
            <a:solidFill>
              <a:srgbClr val="D7DD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shot147" descr="Donor gets an instant alert when food is claimed, with receiver contact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651760"/>
          </a:xfrm>
          <a:prstGeom prst="rect">
            <a:avLst/>
          </a:prstGeom>
        </p:spPr>
      </p:pic>
      <p:sp>
        <p:nvSpPr>
          <p:cNvPr id="8" name="t148"/>
          <p:cNvSpPr txBox="1"/>
          <p:nvPr/>
        </p:nvSpPr>
        <p:spPr>
          <a:xfrm>
            <a:off x="4663440" y="3977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Donor gets an instant alert when food is claimed, with receiver contact.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Screens: admin panel</a:t>
            </a:r>
            <a:endParaRPr lang="en-US" sz="2800" dirty="0"/>
          </a:p>
        </p:txBody>
      </p:sp>
      <p:sp>
        <p:nvSpPr>
          <p:cNvPr id="3" name="adminframe"/>
          <p:cNvSpPr/>
          <p:nvPr/>
        </p:nvSpPr>
        <p:spPr>
          <a:xfrm>
            <a:off x="411480" y="1005840"/>
            <a:ext cx="51206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7DDD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adminshot" descr="Admin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029200" cy="3319272"/>
          </a:xfrm>
          <a:prstGeom prst="rect">
            <a:avLst/>
          </a:prstGeom>
        </p:spPr>
      </p:pic>
      <p:sp>
        <p:nvSpPr>
          <p:cNvPr id="5" name="card149"/>
          <p:cNvSpPr/>
          <p:nvPr/>
        </p:nvSpPr>
        <p:spPr>
          <a:xfrm>
            <a:off x="5852160" y="1005840"/>
            <a:ext cx="2834640" cy="3474720"/>
          </a:xfrm>
          <a:prstGeom prst="roundRect">
            <a:avLst>
              <a:gd name="adj" fmla="val 3871"/>
            </a:avLst>
          </a:prstGeom>
          <a:solidFill>
            <a:srgbClr val="F1F5F2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150"/>
          <p:cNvSpPr txBox="1"/>
          <p:nvPr/>
        </p:nvSpPr>
        <p:spPr>
          <a:xfrm>
            <a:off x="6035040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can see</a:t>
            </a:r>
            <a:endParaRPr lang="en-US" sz="1600" dirty="0"/>
          </a:p>
        </p:txBody>
      </p:sp>
      <p:sp>
        <p:nvSpPr>
          <p:cNvPr id="7" name="t151"/>
          <p:cNvSpPr txBox="1"/>
          <p:nvPr/>
        </p:nvSpPr>
        <p:spPr>
          <a:xfrm>
            <a:off x="6035040" y="160020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Total meals, food saved, CO₂ avoided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Donations by status &amp; category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Average time to claim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Live map of active food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users &amp; donations; cancel any listing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testing</a:t>
            </a:r>
            <a:endParaRPr lang="en-US" sz="2800" dirty="0"/>
          </a:p>
        </p:txBody>
      </p:sp>
      <p:sp>
        <p:nvSpPr>
          <p:cNvPr id="3" name="card152"/>
          <p:cNvSpPr/>
          <p:nvPr/>
        </p:nvSpPr>
        <p:spPr>
          <a:xfrm>
            <a:off x="457200" y="105156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153"/>
          <p:cNvSpPr txBox="1"/>
          <p:nvPr/>
        </p:nvSpPr>
        <p:spPr>
          <a:xfrm>
            <a:off x="640080" y="1124712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Frontend</a:t>
            </a:r>
            <a:endParaRPr lang="en-US" sz="1400" dirty="0"/>
          </a:p>
        </p:txBody>
      </p:sp>
      <p:sp>
        <p:nvSpPr>
          <p:cNvPr id="5" name="t154"/>
          <p:cNvSpPr txBox="1"/>
          <p:nvPr/>
        </p:nvSpPr>
        <p:spPr>
          <a:xfrm>
            <a:off x="1828800" y="112471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React 19 · Vite · React Router · Leaflet · Socket.io client</a:t>
            </a:r>
            <a:endParaRPr lang="en-US" sz="1200" dirty="0"/>
          </a:p>
        </p:txBody>
      </p:sp>
      <p:sp>
        <p:nvSpPr>
          <p:cNvPr id="6" name="card155"/>
          <p:cNvSpPr/>
          <p:nvPr/>
        </p:nvSpPr>
        <p:spPr>
          <a:xfrm>
            <a:off x="457200" y="192024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156"/>
          <p:cNvSpPr txBox="1"/>
          <p:nvPr/>
        </p:nvSpPr>
        <p:spPr>
          <a:xfrm>
            <a:off x="640080" y="1993392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Backend</a:t>
            </a:r>
            <a:endParaRPr lang="en-US" sz="1400" dirty="0"/>
          </a:p>
        </p:txBody>
      </p:sp>
      <p:sp>
        <p:nvSpPr>
          <p:cNvPr id="8" name="t157"/>
          <p:cNvSpPr txBox="1"/>
          <p:nvPr/>
        </p:nvSpPr>
        <p:spPr>
          <a:xfrm>
            <a:off x="1828800" y="199339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Node.js · Express 5 · Socket.io · Multer · JWT · bcrypt</a:t>
            </a:r>
            <a:endParaRPr lang="en-US" sz="1200" dirty="0"/>
          </a:p>
        </p:txBody>
      </p:sp>
      <p:sp>
        <p:nvSpPr>
          <p:cNvPr id="9" name="card158"/>
          <p:cNvSpPr/>
          <p:nvPr/>
        </p:nvSpPr>
        <p:spPr>
          <a:xfrm>
            <a:off x="457200" y="278892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159"/>
          <p:cNvSpPr txBox="1"/>
          <p:nvPr/>
        </p:nvSpPr>
        <p:spPr>
          <a:xfrm>
            <a:off x="640080" y="2862072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Database</a:t>
            </a:r>
            <a:endParaRPr lang="en-US" sz="1400" dirty="0"/>
          </a:p>
        </p:txBody>
      </p:sp>
      <p:sp>
        <p:nvSpPr>
          <p:cNvPr id="11" name="t160"/>
          <p:cNvSpPr txBox="1"/>
          <p:nvPr/>
        </p:nvSpPr>
        <p:spPr>
          <a:xfrm>
            <a:off x="1828800" y="286207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SQLite (sql.js) — zero setup, file based</a:t>
            </a:r>
            <a:endParaRPr lang="en-US" sz="1200" dirty="0"/>
          </a:p>
        </p:txBody>
      </p:sp>
      <p:sp>
        <p:nvSpPr>
          <p:cNvPr id="12" name="card161"/>
          <p:cNvSpPr/>
          <p:nvPr/>
        </p:nvSpPr>
        <p:spPr>
          <a:xfrm>
            <a:off x="457200" y="3657600"/>
            <a:ext cx="42062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162"/>
          <p:cNvSpPr txBox="1"/>
          <p:nvPr/>
        </p:nvSpPr>
        <p:spPr>
          <a:xfrm>
            <a:off x="640080" y="3730752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AI</a:t>
            </a:r>
            <a:endParaRPr lang="en-US" sz="1400" dirty="0"/>
          </a:p>
        </p:txBody>
      </p:sp>
      <p:sp>
        <p:nvSpPr>
          <p:cNvPr id="14" name="t163"/>
          <p:cNvSpPr txBox="1"/>
          <p:nvPr/>
        </p:nvSpPr>
        <p:spPr>
          <a:xfrm>
            <a:off x="1828800" y="373075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Weighted matching engine · Google Gemini (optional)</a:t>
            </a:r>
            <a:endParaRPr lang="en-US" sz="1200" dirty="0"/>
          </a:p>
        </p:txBody>
      </p:sp>
      <p:sp>
        <p:nvSpPr>
          <p:cNvPr id="15" name="card164"/>
          <p:cNvSpPr/>
          <p:nvPr/>
        </p:nvSpPr>
        <p:spPr>
          <a:xfrm>
            <a:off x="4937760" y="105156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E6F0E9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165"/>
          <p:cNvSpPr txBox="1"/>
          <p:nvPr/>
        </p:nvSpPr>
        <p:spPr>
          <a:xfrm>
            <a:off x="512064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Tested end-to-end</a:t>
            </a:r>
            <a:endParaRPr lang="en-US" sz="1600" dirty="0"/>
          </a:p>
        </p:txBody>
      </p:sp>
      <p:sp>
        <p:nvSpPr>
          <p:cNvPr id="17" name="t166"/>
          <p:cNvSpPr txBox="1"/>
          <p:nvPr/>
        </p:nvSpPr>
        <p:spPr>
          <a:xfrm>
            <a:off x="5120640" y="164592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Register &amp; login for every role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Post with photo → matches notified live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Double-claim blocked (409 Conflict)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Wrong-order status changes rejected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Role checks (donor can’t claim, etc.)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Past expiry &amp; bad input rejected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Veg-only filter respected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6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67"/>
          <p:cNvSpPr txBox="1"/>
          <p:nvPr/>
        </p:nvSpPr>
        <p:spPr>
          <a:xfrm>
            <a:off x="54864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fc0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2C7350"/>
          </a:solidFill>
          <a:ln w="12700">
            <a:solidFill>
              <a:srgbClr val="2C7350"/>
            </a:solidFill>
            <a:prstDash val="solid"/>
          </a:ln>
        </p:spPr>
      </p:sp>
      <p:sp>
        <p:nvSpPr>
          <p:cNvPr id="4" name="t168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📱</a:t>
            </a:r>
            <a:endParaRPr lang="en-US" sz="1400" dirty="0"/>
          </a:p>
        </p:txBody>
      </p:sp>
      <p:sp>
        <p:nvSpPr>
          <p:cNvPr id="5" name="t169"/>
          <p:cNvSpPr txBox="1"/>
          <p:nvPr/>
        </p:nvSpPr>
        <p:spPr>
          <a:xfrm>
            <a:off x="1188720" y="1234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Mobile app with push notifications</a:t>
            </a:r>
            <a:endParaRPr lang="en-US" sz="1500" dirty="0"/>
          </a:p>
        </p:txBody>
      </p:sp>
      <p:sp>
        <p:nvSpPr>
          <p:cNvPr id="6" name="fc1"/>
          <p:cNvSpPr/>
          <p:nvPr/>
        </p:nvSpPr>
        <p:spPr>
          <a:xfrm>
            <a:off x="548640" y="1856232"/>
            <a:ext cx="457200" cy="457200"/>
          </a:xfrm>
          <a:prstGeom prst="ellipse">
            <a:avLst/>
          </a:prstGeom>
          <a:solidFill>
            <a:srgbClr val="2C7350"/>
          </a:solidFill>
          <a:ln w="12700">
            <a:solidFill>
              <a:srgbClr val="2C7350"/>
            </a:solidFill>
            <a:prstDash val="solid"/>
          </a:ln>
        </p:spPr>
      </p:sp>
      <p:sp>
        <p:nvSpPr>
          <p:cNvPr id="7" name="t170"/>
          <p:cNvSpPr txBox="1"/>
          <p:nvPr/>
        </p:nvSpPr>
        <p:spPr>
          <a:xfrm>
            <a:off x="54864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🛵</a:t>
            </a:r>
            <a:endParaRPr lang="en-US" sz="1400" dirty="0"/>
          </a:p>
        </p:txBody>
      </p:sp>
      <p:sp>
        <p:nvSpPr>
          <p:cNvPr id="8" name="t171"/>
          <p:cNvSpPr txBox="1"/>
          <p:nvPr/>
        </p:nvSpPr>
        <p:spPr>
          <a:xfrm>
            <a:off x="1188720" y="1856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Volunteer delivery with live tracking</a:t>
            </a:r>
            <a:endParaRPr lang="en-US" sz="1500" dirty="0"/>
          </a:p>
        </p:txBody>
      </p:sp>
      <p:sp>
        <p:nvSpPr>
          <p:cNvPr id="9" name="fc2"/>
          <p:cNvSpPr/>
          <p:nvPr/>
        </p:nvSpPr>
        <p:spPr>
          <a:xfrm>
            <a:off x="548640" y="2478024"/>
            <a:ext cx="457200" cy="457200"/>
          </a:xfrm>
          <a:prstGeom prst="ellipse">
            <a:avLst/>
          </a:prstGeom>
          <a:solidFill>
            <a:srgbClr val="2C7350"/>
          </a:solidFill>
          <a:ln w="12700">
            <a:solidFill>
              <a:srgbClr val="2C7350"/>
            </a:solidFill>
            <a:prstDash val="solid"/>
          </a:ln>
        </p:spPr>
      </p:sp>
      <p:sp>
        <p:nvSpPr>
          <p:cNvPr id="10" name="t172"/>
          <p:cNvSpPr txBox="1"/>
          <p:nvPr/>
        </p:nvSpPr>
        <p:spPr>
          <a:xfrm>
            <a:off x="54864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📷</a:t>
            </a:r>
            <a:endParaRPr lang="en-US" sz="1400" dirty="0"/>
          </a:p>
        </p:txBody>
      </p:sp>
      <p:sp>
        <p:nvSpPr>
          <p:cNvPr id="11" name="t173"/>
          <p:cNvSpPr txBox="1"/>
          <p:nvPr/>
        </p:nvSpPr>
        <p:spPr>
          <a:xfrm>
            <a:off x="1188720" y="24780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Image-based freshness detection</a:t>
            </a:r>
            <a:endParaRPr lang="en-US" sz="1500" dirty="0"/>
          </a:p>
        </p:txBody>
      </p:sp>
      <p:sp>
        <p:nvSpPr>
          <p:cNvPr id="12" name="fc3"/>
          <p:cNvSpPr/>
          <p:nvPr/>
        </p:nvSpPr>
        <p:spPr>
          <a:xfrm>
            <a:off x="548640" y="3099816"/>
            <a:ext cx="457200" cy="457200"/>
          </a:xfrm>
          <a:prstGeom prst="ellipse">
            <a:avLst/>
          </a:prstGeom>
          <a:solidFill>
            <a:srgbClr val="2C7350"/>
          </a:solidFill>
          <a:ln w="12700">
            <a:solidFill>
              <a:srgbClr val="2C7350"/>
            </a:solidFill>
            <a:prstDash val="solid"/>
          </a:ln>
        </p:spPr>
      </p:sp>
      <p:sp>
        <p:nvSpPr>
          <p:cNvPr id="13" name="t174"/>
          <p:cNvSpPr txBox="1"/>
          <p:nvPr/>
        </p:nvSpPr>
        <p:spPr>
          <a:xfrm>
            <a:off x="54864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✔</a:t>
            </a:r>
            <a:endParaRPr lang="en-US" sz="1400" dirty="0"/>
          </a:p>
        </p:txBody>
      </p:sp>
      <p:sp>
        <p:nvSpPr>
          <p:cNvPr id="14" name="t175"/>
          <p:cNvSpPr txBox="1"/>
          <p:nvPr/>
        </p:nvSpPr>
        <p:spPr>
          <a:xfrm>
            <a:off x="1188720" y="30998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Verified NGO badges &amp; food-safety ratings</a:t>
            </a:r>
            <a:endParaRPr lang="en-US" sz="1500" dirty="0"/>
          </a:p>
        </p:txBody>
      </p:sp>
      <p:sp>
        <p:nvSpPr>
          <p:cNvPr id="15" name="fc4"/>
          <p:cNvSpPr/>
          <p:nvPr/>
        </p:nvSpPr>
        <p:spPr>
          <a:xfrm>
            <a:off x="548640" y="3721608"/>
            <a:ext cx="457200" cy="457200"/>
          </a:xfrm>
          <a:prstGeom prst="ellipse">
            <a:avLst/>
          </a:prstGeom>
          <a:solidFill>
            <a:srgbClr val="2C7350"/>
          </a:solidFill>
          <a:ln w="12700">
            <a:solidFill>
              <a:srgbClr val="2C7350"/>
            </a:solidFill>
            <a:prstDash val="solid"/>
          </a:ln>
        </p:spPr>
      </p:sp>
      <p:sp>
        <p:nvSpPr>
          <p:cNvPr id="16" name="t176"/>
          <p:cNvSpPr txBox="1"/>
          <p:nvPr/>
        </p:nvSpPr>
        <p:spPr>
          <a:xfrm>
            <a:off x="54864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🗣</a:t>
            </a:r>
            <a:endParaRPr lang="en-US" sz="1400" dirty="0"/>
          </a:p>
        </p:txBody>
      </p:sp>
      <p:sp>
        <p:nvSpPr>
          <p:cNvPr id="17" name="t177"/>
          <p:cNvSpPr txBox="1"/>
          <p:nvPr/>
        </p:nvSpPr>
        <p:spPr>
          <a:xfrm>
            <a:off x="1188720" y="3721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Hindi &amp; regional language support</a:t>
            </a:r>
            <a:endParaRPr lang="en-US" sz="1500" dirty="0"/>
          </a:p>
        </p:txBody>
      </p:sp>
      <p:sp>
        <p:nvSpPr>
          <p:cNvPr id="18" name="thanks"/>
          <p:cNvSpPr/>
          <p:nvPr/>
        </p:nvSpPr>
        <p:spPr>
          <a:xfrm>
            <a:off x="5760720" y="1234440"/>
            <a:ext cx="2926080" cy="2926080"/>
          </a:xfrm>
          <a:prstGeom prst="roundRect">
            <a:avLst>
              <a:gd name="adj" fmla="val 4688"/>
            </a:avLst>
          </a:prstGeom>
          <a:solidFill>
            <a:srgbClr val="F4A73B"/>
          </a:solidFill>
          <a:ln w="12700">
            <a:solidFill>
              <a:srgbClr val="F4A73B"/>
            </a:solidFill>
            <a:prstDash val="solid"/>
          </a:ln>
        </p:spPr>
      </p:sp>
      <p:sp>
        <p:nvSpPr>
          <p:cNvPr id="19" name="t178"/>
          <p:cNvSpPr txBox="1"/>
          <p:nvPr/>
        </p:nvSpPr>
        <p:spPr>
          <a:xfrm>
            <a:off x="5760720" y="1920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20" name="t179"/>
          <p:cNvSpPr txBox="1"/>
          <p:nvPr/>
        </p:nvSpPr>
        <p:spPr>
          <a:xfrm>
            <a:off x="5760720" y="2697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420"/>
                </a:solidFill>
              </a:rPr>
              <a:t>Questions?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D2420"/>
                </a:solidFill>
              </a:rPr>
              <a:t>Team CodeBlooded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Bridge">
  <a:themeElements>
    <a:clrScheme name="FoodBridge">
      <a:dk1>
        <a:srgbClr val="1D2420"/>
      </a:dk1>
      <a:lt1>
        <a:srgbClr val="FFFFFF"/>
      </a:lt1>
      <a:dk2>
        <a:srgbClr val="1F5F3F"/>
      </a:dk2>
      <a:lt2>
        <a:srgbClr val="F1F5F2"/>
      </a:lt2>
      <a:accent1>
        <a:srgbClr val="1F5F3F"/>
      </a:accent1>
      <a:accent2>
        <a:srgbClr val="F4A73B"/>
      </a:accent2>
      <a:accent3>
        <a:srgbClr val="C2412D"/>
      </a:accent3>
      <a:accent4>
        <a:srgbClr val="2350A8"/>
      </a:accent4>
      <a:accent5>
        <a:srgbClr val="97BC62"/>
      </a:accent5>
      <a:accent6>
        <a:srgbClr val="66706A"/>
      </a:accent6>
      <a:hlink>
        <a:srgbClr val="1F5F3F"/>
      </a:hlink>
      <a:folHlink>
        <a:srgbClr val="164530"/>
      </a:folHlink>
    </a:clrScheme>
    <a:fontScheme name="FoodBrid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FoodBridge — Surplus Food Coordination (PS-4)</dc:title>
  <dc:subject>PptxGenJS Presentation</dc:subject>
  <dc:creator>Team CodeBlooded</dc:creator>
  <cp:lastModifiedBy>Team CodeBlooded</cp:lastModifiedBy>
  <cp:revision>1</cp:revision>
  <dcterms:created xsi:type="dcterms:W3CDTF">2026-10-28T19:10:22Z</dcterms:created>
  <dcterms:modified xsi:type="dcterms:W3CDTF">2026-10-28T19:10:22Z</dcterms:modified>
</cp:coreProperties>
</file>